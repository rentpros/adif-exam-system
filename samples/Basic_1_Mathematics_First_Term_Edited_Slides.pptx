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logo: /mnt/data/1F714C02-247E-4E4A-A693-2BA772E0AF18.png
- Primary 1 Mathematics first-term NERDC scheme, covering number recognition 1-100, counting, place value, addition, subtraction, money, and time: filecite turn9file0 lines 8-47.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logo: /mnt/data/1F714C02-247E-4E4A-A693-2BA772E0AF18.png
- Primary 1 Mathematics first-term NERDC scheme, covering number recognition 1-100, counting, place value, addition, subtraction, money, and time: filecite turn9file0 lines 8-47.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6858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E34"/>
            </a:solidFill>
            <a:prstDash val="solid"/>
          </a:ln>
        </p:spPr>
      </p:sp>
      <p:pic>
        <p:nvPicPr>
          <p:cNvPr id="3" name="Image 0" descr="/mnt/data/1F714C02-247E-4E4A-A693-2BA772E0AF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38912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457200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5E34"/>
                </a:solidFill>
              </a:rPr>
              <a:t>ADIF SCHOOL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72768" y="731520"/>
            <a:ext cx="5349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9, Ashafa Egemo Street, Baba Dada Bus Stop, Egan, Lagos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572768" y="896112"/>
            <a:ext cx="5349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FIRST TERM EXAMINATION 2025/2026 ACADEMIC SESSION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572768" y="1078992"/>
            <a:ext cx="5349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i="1" dirty="0">
                <a:solidFill>
                  <a:srgbClr val="9C7A00"/>
                </a:solidFill>
              </a:rPr>
              <a:t>Knowledge is Light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365760" y="1847088"/>
            <a:ext cx="6839712" cy="0"/>
          </a:xfrm>
          <a:prstGeom prst="line">
            <a:avLst/>
          </a:prstGeom>
          <a:noFill/>
          <a:ln w="12700">
            <a:solidFill>
              <a:srgbClr val="1F5E3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901952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Class: Basic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240280" y="1901952"/>
            <a:ext cx="2194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Subject: Mathematics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617720" y="1901952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Session: 2025 / 2026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2084832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Name: ____________________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2313432"/>
            <a:ext cx="6839712" cy="0"/>
          </a:xfrm>
          <a:prstGeom prst="line">
            <a:avLst/>
          </a:prstGeom>
          <a:noFill/>
          <a:ln w="12700">
            <a:solidFill>
              <a:srgbClr val="1F5E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487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11111"/>
                </a:solidFill>
              </a:rPr>
              <a:t>SECTION A - OBJECTIVES</a:t>
            </a:r>
            <a:endParaRPr lang="en-US" sz="1420" dirty="0"/>
          </a:p>
        </p:txBody>
      </p:sp>
      <p:sp>
        <p:nvSpPr>
          <p:cNvPr id="15" name="Text 12"/>
          <p:cNvSpPr/>
          <p:nvPr/>
        </p:nvSpPr>
        <p:spPr>
          <a:xfrm>
            <a:off x="411480" y="2697480"/>
            <a:ext cx="5303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</a:rPr>
              <a:t>Answer all questions. Choose the correct option from A - D.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411480" y="2880360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11111"/>
                </a:solidFill>
              </a:rPr>
              <a:t>1. Which number comes after 9?  A. 8  B. 10  C. 11  D. 7</a:t>
            </a:r>
            <a:endParaRPr lang="en-US" sz="870" dirty="0"/>
          </a:p>
        </p:txBody>
      </p:sp>
      <p:sp>
        <p:nvSpPr>
          <p:cNvPr id="17" name="Text 14"/>
          <p:cNvSpPr/>
          <p:nvPr/>
        </p:nvSpPr>
        <p:spPr>
          <a:xfrm>
            <a:off x="411480" y="305409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11111"/>
                </a:solidFill>
              </a:rPr>
              <a:t>2. Which number comes before 15?  A. 13  B. 14  C. 16  D. 17</a:t>
            </a:r>
            <a:endParaRPr lang="en-US" sz="870" dirty="0"/>
          </a:p>
        </p:txBody>
      </p:sp>
      <p:sp>
        <p:nvSpPr>
          <p:cNvPr id="18" name="Text 15"/>
          <p:cNvSpPr/>
          <p:nvPr/>
        </p:nvSpPr>
        <p:spPr>
          <a:xfrm>
            <a:off x="411480" y="322783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11111"/>
                </a:solidFill>
              </a:rPr>
              <a:t>3. Which number is the biggest?  A. 4  B. 7  C. 2  D. 1</a:t>
            </a:r>
            <a:endParaRPr lang="en-US" sz="870" dirty="0"/>
          </a:p>
        </p:txBody>
      </p:sp>
      <p:sp>
        <p:nvSpPr>
          <p:cNvPr id="19" name="Text 16"/>
          <p:cNvSpPr/>
          <p:nvPr/>
        </p:nvSpPr>
        <p:spPr>
          <a:xfrm>
            <a:off x="411480" y="340156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11111"/>
                </a:solidFill>
              </a:rPr>
              <a:t>4. How many ones are in 14?  A. 1  B. 4  C. 14  D. 10</a:t>
            </a:r>
            <a:endParaRPr lang="en-US" sz="870" dirty="0"/>
          </a:p>
        </p:txBody>
      </p:sp>
      <p:sp>
        <p:nvSpPr>
          <p:cNvPr id="20" name="Text 17"/>
          <p:cNvSpPr/>
          <p:nvPr/>
        </p:nvSpPr>
        <p:spPr>
          <a:xfrm>
            <a:off x="411480" y="357530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11111"/>
                </a:solidFill>
              </a:rPr>
              <a:t>5. How many tens are in 20?  A. 1  B. 0  C. 2  D. 20</a:t>
            </a:r>
            <a:endParaRPr lang="en-US" sz="870" dirty="0"/>
          </a:p>
        </p:txBody>
      </p:sp>
      <p:sp>
        <p:nvSpPr>
          <p:cNvPr id="21" name="Text 18"/>
          <p:cNvSpPr/>
          <p:nvPr/>
        </p:nvSpPr>
        <p:spPr>
          <a:xfrm>
            <a:off x="411480" y="3749040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11111"/>
                </a:solidFill>
              </a:rPr>
              <a:t>6. 5 + 3 = __.  A. 6  B. 8  C. 9  D. 7</a:t>
            </a:r>
            <a:endParaRPr lang="en-US" sz="870" dirty="0"/>
          </a:p>
        </p:txBody>
      </p:sp>
      <p:sp>
        <p:nvSpPr>
          <p:cNvPr id="22" name="Text 19"/>
          <p:cNvSpPr/>
          <p:nvPr/>
        </p:nvSpPr>
        <p:spPr>
          <a:xfrm>
            <a:off x="411480" y="392277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11111"/>
                </a:solidFill>
              </a:rPr>
              <a:t>7. 7 + 2 = __.  A. 8  B. 5  C. 10  D. 9</a:t>
            </a:r>
            <a:endParaRPr lang="en-US" sz="870" dirty="0"/>
          </a:p>
        </p:txBody>
      </p:sp>
      <p:sp>
        <p:nvSpPr>
          <p:cNvPr id="23" name="Text 20"/>
          <p:cNvSpPr/>
          <p:nvPr/>
        </p:nvSpPr>
        <p:spPr>
          <a:xfrm>
            <a:off x="411480" y="409651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11111"/>
                </a:solidFill>
              </a:rPr>
              <a:t>8. 9 - 4 = __.  A. 5  B. 4  C. 6  D. 3</a:t>
            </a:r>
            <a:endParaRPr lang="en-US" sz="870" dirty="0"/>
          </a:p>
        </p:txBody>
      </p:sp>
      <p:sp>
        <p:nvSpPr>
          <p:cNvPr id="24" name="Text 21"/>
          <p:cNvSpPr/>
          <p:nvPr/>
        </p:nvSpPr>
        <p:spPr>
          <a:xfrm>
            <a:off x="411480" y="427024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11111"/>
                </a:solidFill>
              </a:rPr>
              <a:t>9. 6 - 2 = __.  A. 2  B. 8  C. 4  D. 3</a:t>
            </a:r>
            <a:endParaRPr lang="en-US" sz="870" dirty="0"/>
          </a:p>
        </p:txBody>
      </p:sp>
      <p:sp>
        <p:nvSpPr>
          <p:cNvPr id="25" name="Text 22"/>
          <p:cNvSpPr/>
          <p:nvPr/>
        </p:nvSpPr>
        <p:spPr>
          <a:xfrm>
            <a:off x="411480" y="44439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11111"/>
                </a:solidFill>
              </a:rPr>
              <a:t>10. 12 + 5 = __.  A. 15  B. 17  C. 16  D. 18</a:t>
            </a:r>
            <a:endParaRPr lang="en-US" sz="870" dirty="0"/>
          </a:p>
        </p:txBody>
      </p:sp>
      <p:sp>
        <p:nvSpPr>
          <p:cNvPr id="26" name="Text 23"/>
          <p:cNvSpPr/>
          <p:nvPr/>
        </p:nvSpPr>
        <p:spPr>
          <a:xfrm>
            <a:off x="411480" y="461772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11. Count the dots below.</a:t>
            </a:r>
            <a:endParaRPr lang="en-US" sz="870" dirty="0"/>
          </a:p>
        </p:txBody>
      </p:sp>
      <p:sp>
        <p:nvSpPr>
          <p:cNvPr id="27" name="Shape 24"/>
          <p:cNvSpPr/>
          <p:nvPr/>
        </p:nvSpPr>
        <p:spPr>
          <a:xfrm>
            <a:off x="2240280" y="4636008"/>
            <a:ext cx="100584" cy="10058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441448" y="4636008"/>
            <a:ext cx="100584" cy="10058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642616" y="4636008"/>
            <a:ext cx="100584" cy="10058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843784" y="4636008"/>
            <a:ext cx="100584" cy="10058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044952" y="4636008"/>
            <a:ext cx="100584" cy="10058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456432" y="461772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A. 4  B. 5  C. 6  D. 7</a:t>
            </a:r>
            <a:endParaRPr lang="en-US" sz="870" dirty="0"/>
          </a:p>
        </p:txBody>
      </p:sp>
      <p:sp>
        <p:nvSpPr>
          <p:cNvPr id="33" name="Text 30"/>
          <p:cNvSpPr/>
          <p:nvPr/>
        </p:nvSpPr>
        <p:spPr>
          <a:xfrm>
            <a:off x="411480" y="4928616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12. Which shape below is a triangle?</a:t>
            </a:r>
            <a:endParaRPr lang="en-US" sz="870" dirty="0"/>
          </a:p>
        </p:txBody>
      </p:sp>
      <p:sp>
        <p:nvSpPr>
          <p:cNvPr id="34" name="Shape 31"/>
          <p:cNvSpPr/>
          <p:nvPr/>
        </p:nvSpPr>
        <p:spPr>
          <a:xfrm>
            <a:off x="3337560" y="491947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410712" y="517550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A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840480" y="4919472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913632" y="517550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B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 rot="5400000">
            <a:off x="4343400" y="4928616"/>
            <a:ext cx="237744" cy="20116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416552" y="517550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C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846320" y="4946904"/>
            <a:ext cx="310896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965192" y="517550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D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11480" y="5358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5" dirty="0">
                <a:solidFill>
                  <a:srgbClr val="111111"/>
                </a:solidFill>
              </a:rPr>
              <a:t>13. 1 naira + 1 naira = __ naira.  A. 1  B. 2  C. 3  D. 4</a:t>
            </a:r>
            <a:endParaRPr lang="en-US" sz="855" dirty="0"/>
          </a:p>
        </p:txBody>
      </p:sp>
      <p:sp>
        <p:nvSpPr>
          <p:cNvPr id="43" name="Text 40"/>
          <p:cNvSpPr/>
          <p:nvPr/>
        </p:nvSpPr>
        <p:spPr>
          <a:xfrm>
            <a:off x="411480" y="5532120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5" dirty="0">
                <a:solidFill>
                  <a:srgbClr val="111111"/>
                </a:solidFill>
              </a:rPr>
              <a:t>14. 10 + 10 = __.  A. 20  B. 10  C. 30  D. 15</a:t>
            </a:r>
            <a:endParaRPr lang="en-US" sz="855" dirty="0"/>
          </a:p>
        </p:txBody>
      </p:sp>
      <p:sp>
        <p:nvSpPr>
          <p:cNvPr id="44" name="Text 41"/>
          <p:cNvSpPr/>
          <p:nvPr/>
        </p:nvSpPr>
        <p:spPr>
          <a:xfrm>
            <a:off x="411480" y="570585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5" dirty="0">
                <a:solidFill>
                  <a:srgbClr val="111111"/>
                </a:solidFill>
              </a:rPr>
              <a:t>15. 19 - 9 = __.  A. 8  B. 11  C. 10  D. 9</a:t>
            </a:r>
            <a:endParaRPr lang="en-US" sz="855" dirty="0"/>
          </a:p>
        </p:txBody>
      </p:sp>
      <p:sp>
        <p:nvSpPr>
          <p:cNvPr id="45" name="Text 42"/>
          <p:cNvSpPr/>
          <p:nvPr/>
        </p:nvSpPr>
        <p:spPr>
          <a:xfrm>
            <a:off x="411480" y="587959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5" dirty="0">
                <a:solidFill>
                  <a:srgbClr val="111111"/>
                </a:solidFill>
              </a:rPr>
              <a:t>16. Which group has more?  A. 3 balls  B. 8 balls  C. 1 ball  D. 2 balls</a:t>
            </a:r>
            <a:endParaRPr lang="en-US" sz="855" dirty="0"/>
          </a:p>
        </p:txBody>
      </p:sp>
      <p:sp>
        <p:nvSpPr>
          <p:cNvPr id="46" name="Text 43"/>
          <p:cNvSpPr/>
          <p:nvPr/>
        </p:nvSpPr>
        <p:spPr>
          <a:xfrm>
            <a:off x="411480" y="605332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5" dirty="0">
                <a:solidFill>
                  <a:srgbClr val="111111"/>
                </a:solidFill>
              </a:rPr>
              <a:t>17. 18 - 6 = __.  A. 12  B. 10  C. 13  D. 14</a:t>
            </a:r>
            <a:endParaRPr lang="en-US" sz="855" dirty="0"/>
          </a:p>
        </p:txBody>
      </p:sp>
      <p:sp>
        <p:nvSpPr>
          <p:cNvPr id="47" name="Text 44"/>
          <p:cNvSpPr/>
          <p:nvPr/>
        </p:nvSpPr>
        <p:spPr>
          <a:xfrm>
            <a:off x="411480" y="622706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5" dirty="0">
                <a:solidFill>
                  <a:srgbClr val="111111"/>
                </a:solidFill>
              </a:rPr>
              <a:t>18. Which number is between 11 and 13?  A. 10  B. 12  C. 14  D. 15</a:t>
            </a:r>
            <a:endParaRPr lang="en-US" sz="855" dirty="0"/>
          </a:p>
        </p:txBody>
      </p:sp>
      <p:sp>
        <p:nvSpPr>
          <p:cNvPr id="48" name="Text 45"/>
          <p:cNvSpPr/>
          <p:nvPr/>
        </p:nvSpPr>
        <p:spPr>
          <a:xfrm>
            <a:off x="411480" y="6400800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5" dirty="0">
                <a:solidFill>
                  <a:srgbClr val="111111"/>
                </a:solidFill>
              </a:rPr>
              <a:t>19. Which coin can we use to buy things?  A. leaf  B. stone  C. coin  D. stick</a:t>
            </a:r>
            <a:endParaRPr lang="en-US" sz="855" dirty="0"/>
          </a:p>
        </p:txBody>
      </p:sp>
      <p:sp>
        <p:nvSpPr>
          <p:cNvPr id="49" name="Text 46"/>
          <p:cNvSpPr/>
          <p:nvPr/>
        </p:nvSpPr>
        <p:spPr>
          <a:xfrm>
            <a:off x="411480" y="657453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5" dirty="0">
                <a:solidFill>
                  <a:srgbClr val="000000"/>
                </a:solidFill>
              </a:rPr>
              <a:t>20. On the clock below, the time is 3 o'clock.</a:t>
            </a:r>
            <a:endParaRPr lang="en-US" sz="845" dirty="0"/>
          </a:p>
        </p:txBody>
      </p:sp>
      <p:sp>
        <p:nvSpPr>
          <p:cNvPr id="50" name="Shape 47"/>
          <p:cNvSpPr/>
          <p:nvPr/>
        </p:nvSpPr>
        <p:spPr>
          <a:xfrm>
            <a:off x="3822192" y="654710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950208" y="6675120"/>
            <a:ext cx="0" cy="-71689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950208" y="6675120"/>
            <a:ext cx="46086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160520" y="657453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000000"/>
                </a:solidFill>
              </a:rPr>
              <a:t>The short hand points at __.  A. 12  B. 6  C. 3  D. 9</a:t>
            </a:r>
            <a:endParaRPr lang="en-US" sz="830" dirty="0"/>
          </a:p>
        </p:txBody>
      </p:sp>
      <p:sp>
        <p:nvSpPr>
          <p:cNvPr id="54" name="Text 51"/>
          <p:cNvSpPr/>
          <p:nvPr/>
        </p:nvSpPr>
        <p:spPr>
          <a:xfrm>
            <a:off x="411480" y="67208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SECTION B - FILL IN THE GAPS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411480" y="6931152"/>
            <a:ext cx="2011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333333"/>
                </a:solidFill>
              </a:rPr>
              <a:t>Answer all questions.</a:t>
            </a:r>
            <a:endParaRPr lang="en-US" sz="1010" dirty="0"/>
          </a:p>
        </p:txBody>
      </p:sp>
      <p:sp>
        <p:nvSpPr>
          <p:cNvPr id="56" name="Text 53"/>
          <p:cNvSpPr/>
          <p:nvPr/>
        </p:nvSpPr>
        <p:spPr>
          <a:xfrm>
            <a:off x="411480" y="7187184"/>
            <a:ext cx="6309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21. 4 + 4 = ________.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411480" y="7406640"/>
            <a:ext cx="6309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22. 10 - 3 = ________.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411480" y="7626096"/>
            <a:ext cx="6309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23. The number after 16 is ________.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411480" y="7845552"/>
            <a:ext cx="6309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24. In 25, there are ______ tens.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411480" y="8065008"/>
            <a:ext cx="6309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25. When it is 7 o'clock, the short hand points at ________.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3891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</a:rPr>
              <a:t>SECTION C - THEORY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5394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</a:rPr>
              <a:t>Answer any THREE (3) questions. Each question has parts (a) and (b).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411480" y="877824"/>
            <a:ext cx="64008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1(a) </a:t>
            </a:r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Write the numbers from 1 to 10.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621792" y="1289304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1(b) </a:t>
            </a:r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Write the number names for 5 and 8.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411480" y="185623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2(a) </a:t>
            </a:r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Add: 6 + 2 = ________.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621792" y="209397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2(b) </a:t>
            </a:r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Add: 11 + 3 = ________.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11480" y="2660904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3(a) </a:t>
            </a:r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Subtract: 9 - 5 = ________.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21792" y="289864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3(b) </a:t>
            </a:r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Subtract: 14 - 4 = ________.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411480" y="346557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4(a) </a:t>
            </a:r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Write the tens and ones in 18.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21792" y="370332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4(b) </a:t>
            </a:r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Write the tens and ones in 24.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11480" y="431596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00000"/>
                </a:solidFill>
              </a:rPr>
              <a:t>5(a) </a:t>
            </a:r>
            <a:pPr indent="0" marL="0">
              <a:buNone/>
            </a:pPr>
            <a:r>
              <a:rPr lang="en-US" sz="1020" dirty="0">
                <a:solidFill>
                  <a:srgbClr val="000000"/>
                </a:solidFill>
              </a:rPr>
              <a:t>Draw the hands of a clock to show 4 o'clock.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5074920" y="404164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4453128"/>
            <a:ext cx="0" cy="-230429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4453128"/>
            <a:ext cx="128287" cy="74066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7091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00000"/>
                </a:solidFill>
              </a:rPr>
              <a:t>5(b) </a:t>
            </a:r>
            <a:pPr indent="0" marL="0">
              <a:buNone/>
            </a:pPr>
            <a:r>
              <a:rPr lang="en-US" sz="1020" dirty="0">
                <a:solidFill>
                  <a:srgbClr val="000000"/>
                </a:solidFill>
              </a:rPr>
              <a:t>Name two shapes from the shapes below.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4617720" y="461772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4873752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20640" y="4617720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4873752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B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 rot="5400000">
            <a:off x="5623560" y="4626864"/>
            <a:ext cx="237744" cy="20116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96712" y="4873752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C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26480" y="4645152"/>
            <a:ext cx="310896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4873752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97480" y="5623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Good luck!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ADIF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1 Mathematics First Term Edited</dc:title>
  <dc:subject>Basic 1 Mathematics First Term Edited Sample</dc:subject>
  <dc:creator>OpenAI</dc:creator>
  <cp:lastModifiedBy>OpenAI</cp:lastModifiedBy>
  <cp:revision>1</cp:revision>
  <dcterms:created xsi:type="dcterms:W3CDTF">2026-03-09T07:59:02Z</dcterms:created>
  <dcterms:modified xsi:type="dcterms:W3CDTF">2026-03-09T07:59:02Z</dcterms:modified>
</cp:coreProperties>
</file>